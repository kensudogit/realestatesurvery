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Yu Gothic"/>
              </a:rPr>
              <a:t>物件概要書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C2024"/>
                </a:solidFill>
                <a:latin typeface="Yu Gothic"/>
              </a:rPr>
              <a:t>{{property_name}}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4"/>
                </a:solidFill>
                <a:latin typeface="Yu Gothic"/>
              </a:rPr>
              <a:t>{{address_display}}　|　{{access_1}}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286000"/>
          <a:ext cx="46634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2107"/>
                <a:gridCol w="2891332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B7280"/>
                          </a:solidFill>
                          <a:latin typeface="Yu Gothic"/>
                        </a:rPr>
                        <a:t>物件種別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Yu Gothic"/>
                        </a:rPr>
                        <a:t>{{property_type}}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B7280"/>
                          </a:solidFill>
                          <a:latin typeface="Yu Gothic"/>
                        </a:rPr>
                        <a:t>取引種別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Yu Gothic"/>
                        </a:rPr>
                        <a:t>{{deal_type}}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B7280"/>
                          </a:solidFill>
                          <a:latin typeface="Yu Gothic"/>
                        </a:rPr>
                        <a:t>価格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Yu Gothic"/>
                        </a:rPr>
                        <a:t>{{price}}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B7280"/>
                          </a:solidFill>
                          <a:latin typeface="Yu Gothic"/>
                        </a:rPr>
                        <a:t>表面利回り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Yu Gothic"/>
                        </a:rPr>
                        <a:t>{{gross_yield}}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B7280"/>
                          </a:solidFill>
                          <a:latin typeface="Yu Gothic"/>
                        </a:rPr>
                        <a:t>土地面積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Yu Gothic"/>
                        </a:rPr>
                        <a:t>{{land_area_sqm}}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B7280"/>
                          </a:solidFill>
                          <a:latin typeface="Yu Gothic"/>
                        </a:rPr>
                        <a:t>建物面積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Yu Gothic"/>
                        </a:rPr>
                        <a:t>{{building_area_sqm}}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B7280"/>
                          </a:solidFill>
                          <a:latin typeface="Yu Gothic"/>
                        </a:rPr>
                        <a:t>専有面積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Yu Gothic"/>
                        </a:rPr>
                        <a:t>{{exclusive_area_sqm}}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B7280"/>
                          </a:solidFill>
                          <a:latin typeface="Yu Gothic"/>
                        </a:rPr>
                        <a:t>間取り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Yu Gothic"/>
                        </a:rPr>
                        <a:t>{{floor_plan}}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49240" y="2286000"/>
          <a:ext cx="46634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2107"/>
                <a:gridCol w="2891332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B7280"/>
                          </a:solidFill>
                          <a:latin typeface="Yu Gothic"/>
                        </a:rPr>
                        <a:t>築年月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Yu Gothic"/>
                        </a:rPr>
                        <a:t>{{built_year_month}}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B7280"/>
                          </a:solidFill>
                          <a:latin typeface="Yu Gothic"/>
                        </a:rPr>
                        <a:t>構造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Yu Gothic"/>
                        </a:rPr>
                        <a:t>{{structure}}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B7280"/>
                          </a:solidFill>
                          <a:latin typeface="Yu Gothic"/>
                        </a:rPr>
                        <a:t>総戸数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Yu Gothic"/>
                        </a:rPr>
                        <a:t>{{units_total}}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B7280"/>
                          </a:solidFill>
                          <a:latin typeface="Yu Gothic"/>
                        </a:rPr>
                        <a:t>所在階 / 総階数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Yu Gothic"/>
                        </a:rPr>
                        <a:t>{{floor_of_unit}} / {{floors_total}}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B7280"/>
                          </a:solidFill>
                          <a:latin typeface="Yu Gothic"/>
                        </a:rPr>
                        <a:t>現況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Yu Gothic"/>
                        </a:rPr>
                        <a:t>{{current_status}}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B7280"/>
                          </a:solidFill>
                          <a:latin typeface="Yu Gothic"/>
                        </a:rPr>
                        <a:t>引渡時期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Yu Gothic"/>
                        </a:rPr>
                        <a:t>{{delivery_time}}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B7280"/>
                          </a:solidFill>
                          <a:latin typeface="Yu Gothic"/>
                        </a:rPr>
                        <a:t>取引態様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Yu Gothic"/>
                        </a:rPr>
                        <a:t>{{transaction_type}}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B7280"/>
                          </a:solidFill>
                          <a:latin typeface="Yu Gothic"/>
                        </a:rPr>
                        <a:t>元付会社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Yu Gothic"/>
                        </a:rPr>
                        <a:t>{{source_company}}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9494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Yu Gothic"/>
              </a:rPr>
              <a:t>{{meta.review_status}}　要確認項目: {{meta.review_fields}}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024"/>
                </a:solidFill>
                <a:latin typeface="Yu Gothic"/>
              </a:rPr>
              <a:t>{{property_name}}　写真・間取り</a:t>
            </a:r>
          </a:p>
        </p:txBody>
      </p:sp>
      <p:sp>
        <p:nvSpPr>
          <p:cNvPr id="3" name="IMG:exterior"/>
          <p:cNvSpPr/>
          <p:nvPr/>
        </p:nvSpPr>
        <p:spPr>
          <a:xfrm>
            <a:off x="548640" y="1097280"/>
            <a:ext cx="4663440" cy="2926080"/>
          </a:xfrm>
          <a:prstGeom prst="rect">
            <a:avLst/>
          </a:prstGeom>
          <a:solidFill>
            <a:srgbClr val="F0F2F5"/>
          </a:solidFill>
          <a:ln>
            <a:solidFill>
              <a:srgbClr val="D5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6B7280"/>
                </a:solidFill>
                <a:latin typeface="Yu Gothic"/>
              </a:rPr>
              <a:t>外観写真</a:t>
            </a:r>
          </a:p>
        </p:txBody>
      </p:sp>
      <p:sp>
        <p:nvSpPr>
          <p:cNvPr id="4" name="IMG:interior"/>
          <p:cNvSpPr/>
          <p:nvPr/>
        </p:nvSpPr>
        <p:spPr>
          <a:xfrm>
            <a:off x="5486400" y="1097280"/>
            <a:ext cx="4663440" cy="2926080"/>
          </a:xfrm>
          <a:prstGeom prst="rect">
            <a:avLst/>
          </a:prstGeom>
          <a:solidFill>
            <a:srgbClr val="F0F2F5"/>
          </a:solidFill>
          <a:ln>
            <a:solidFill>
              <a:srgbClr val="D5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6B7280"/>
                </a:solidFill>
                <a:latin typeface="Yu Gothic"/>
              </a:rPr>
              <a:t>室内写真</a:t>
            </a:r>
          </a:p>
        </p:txBody>
      </p:sp>
      <p:sp>
        <p:nvSpPr>
          <p:cNvPr id="5" name="IMG:floor_plan"/>
          <p:cNvSpPr/>
          <p:nvPr/>
        </p:nvSpPr>
        <p:spPr>
          <a:xfrm>
            <a:off x="548640" y="4206240"/>
            <a:ext cx="4663440" cy="2926080"/>
          </a:xfrm>
          <a:prstGeom prst="rect">
            <a:avLst/>
          </a:prstGeom>
          <a:solidFill>
            <a:srgbClr val="F0F2F5"/>
          </a:solidFill>
          <a:ln>
            <a:solidFill>
              <a:srgbClr val="D5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6B7280"/>
                </a:solidFill>
                <a:latin typeface="Yu Gothic"/>
              </a:rPr>
              <a:t>間取り図</a:t>
            </a:r>
          </a:p>
        </p:txBody>
      </p:sp>
      <p:sp>
        <p:nvSpPr>
          <p:cNvPr id="6" name="IMG:map"/>
          <p:cNvSpPr/>
          <p:nvPr/>
        </p:nvSpPr>
        <p:spPr>
          <a:xfrm>
            <a:off x="5486400" y="4206240"/>
            <a:ext cx="4663440" cy="2926080"/>
          </a:xfrm>
          <a:prstGeom prst="rect">
            <a:avLst/>
          </a:prstGeom>
          <a:solidFill>
            <a:srgbClr val="F0F2F5"/>
          </a:solidFill>
          <a:ln>
            <a:solidFill>
              <a:srgbClr val="D5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6B7280"/>
                </a:solidFill>
                <a:latin typeface="Yu Gothic"/>
              </a:rPr>
              <a:t>地図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